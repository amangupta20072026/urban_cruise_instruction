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3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EEF2F6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822960"/>
            <a:ext cx="3657600" cy="3657600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NOTE FOR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Mobile App
</a:t>
            </a:r>
            <a:r>
              <a:rPr lang="en-US" sz="4000" b="1" dirty="0">
                <a:solidFill>
                  <a:srgbClr val="17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actually 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moment a Quotation is saved, through Booking, Vendor assignment, Trip and Payment — one flow, three roles.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8" name="Image 0" descr="/home/claude/pinaak-deck/us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96519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4846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71800" y="484632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1" name="Image 1" descr="/home/claude/pinaak-deck/tru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49651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4846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(BA)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303520" y="484632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4" name="Image 2" descr="/home/claude/pinaak-deck/navigatio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496519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06440" y="4846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BOUNDARY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systems, one shared database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Admin Portal owns Enquiry → Lead → Quotation. PINAAK's mobile backend takes over from Quotation onward.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834640" cy="2651760"/>
          </a:xfrm>
          <a:prstGeom prst="roundRect">
            <a:avLst>
              <a:gd name="adj" fmla="val 4138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/home/claude/pinaak-deck/build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23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4181F"/>
                </a:solidFill>
                <a:latin typeface="Arial" pitchFamily="34" charset="0"/>
                <a:cs typeface="Arial" pitchFamily="34" charset="-120"/>
              </a:rPr>
              <a:t>Pinaak</a:t>
            </a:r>
            <a:r>
              <a:rPr lang="en-US" sz="1400" b="1" dirty="0">
                <a:solidFill>
                  <a:srgbClr val="14181F"/>
                </a:solidFill>
                <a:latin typeface="Arial" pitchFamily="34" charset="0"/>
                <a:cs typeface="Arial" pitchFamily="34" charset="-120"/>
              </a:rPr>
              <a:t> Portal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system — not built by this project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Enquiry
•  Lead
•  Quotation (RQ)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20440" y="3364992"/>
            <a:ext cx="502920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1" name="Shape 8"/>
          <p:cNvSpPr/>
          <p:nvPr/>
        </p:nvSpPr>
        <p:spPr>
          <a:xfrm>
            <a:off x="4160520" y="2148840"/>
            <a:ext cx="2834640" cy="2651760"/>
          </a:xfrm>
          <a:prstGeom prst="roundRect">
            <a:avLst>
              <a:gd name="adj" fmla="val 4138"/>
            </a:avLst>
          </a:prstGeom>
          <a:solidFill>
            <a:srgbClr val="173B5C"/>
          </a:solidFill>
          <a:ln/>
        </p:spPr>
      </p:sp>
      <p:pic>
        <p:nvPicPr>
          <p:cNvPr id="12" name="Image 1" descr="/home/claude/pinaak-deck/database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4231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MySQL Database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389120" y="3474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systems read/write directly — no webhook layer between them.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89120" y="423367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E2740"/>
          </a:solidFill>
          <a:ln/>
        </p:spPr>
      </p:sp>
      <p:sp>
        <p:nvSpPr>
          <p:cNvPr id="16" name="Text 12"/>
          <p:cNvSpPr/>
          <p:nvPr/>
        </p:nvSpPr>
        <p:spPr>
          <a:xfrm>
            <a:off x="4480560" y="42336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A2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backend: read-only on Quotation tables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132320" y="3364992"/>
            <a:ext cx="502920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0" y="2148840"/>
            <a:ext cx="2834640" cy="2651760"/>
          </a:xfrm>
          <a:prstGeom prst="roundRect">
            <a:avLst>
              <a:gd name="adj" fmla="val 4138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9" name="Image 2" descr="/home/claude/pinaak-deck/serv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4231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010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Backend API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001000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owns Booking onward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001000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Booking
•  Trip &amp; Vehicle
•  Payment · Feedback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0" y="4873752"/>
            <a:ext cx="274320" cy="36576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24" name="Shape 19"/>
          <p:cNvSpPr/>
          <p:nvPr/>
        </p:nvSpPr>
        <p:spPr>
          <a:xfrm>
            <a:off x="3566160" y="5303520"/>
            <a:ext cx="50292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9050">
            <a:solidFill>
              <a:srgbClr val="173B5C"/>
            </a:solidFill>
            <a:prstDash val="solid"/>
          </a:ln>
        </p:spPr>
      </p:sp>
      <p:pic>
        <p:nvPicPr>
          <p:cNvPr id="25" name="Image 3" descr="/home/claude/pinaak-deck/smartphon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548640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34840" y="5413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React Native App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434840" y="57241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login — Customer · Vendor · Driver in a single build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happens, in order, once a Quotation exists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408176" y="2670048"/>
            <a:ext cx="1078992" cy="0"/>
          </a:xfrm>
          <a:prstGeom prst="line">
            <a:avLst/>
          </a:prstGeom>
          <a:noFill/>
          <a:ln w="25400">
            <a:solidFill>
              <a:srgbClr val="E2E5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768096" cy="7680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 Saved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in UC Admin Portal, lands in shared DB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55264" y="2670048"/>
            <a:ext cx="1078992" cy="0"/>
          </a:xfrm>
          <a:prstGeom prst="line">
            <a:avLst/>
          </a:prstGeom>
          <a:noFill/>
          <a:ln w="25400">
            <a:solidFill>
              <a:srgbClr val="E2E5E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487168" y="2286000"/>
            <a:ext cx="768096" cy="768096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75688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Views &amp; Confirms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75688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vehicle option, confirms, pays advance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67128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167128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02352" y="2670048"/>
            <a:ext cx="1078992" cy="0"/>
          </a:xfrm>
          <a:prstGeom prst="line">
            <a:avLst/>
          </a:prstGeom>
          <a:noFill/>
          <a:ln w="25400">
            <a:solidFill>
              <a:srgbClr val="E2E5E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334256" y="2286000"/>
            <a:ext cx="768096" cy="768096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20" name="Text 18"/>
          <p:cNvSpPr/>
          <p:nvPr/>
        </p:nvSpPr>
        <p:spPr>
          <a:xfrm>
            <a:off x="4334256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22776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Created + Token amount(25%)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922776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ID generated (= Quotation/Enquiry ID)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14216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014216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49440" y="2670048"/>
            <a:ext cx="1078992" cy="0"/>
          </a:xfrm>
          <a:prstGeom prst="line">
            <a:avLst/>
          </a:prstGeom>
          <a:noFill/>
          <a:ln w="25400">
            <a:solidFill>
              <a:srgbClr val="E2E5E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181344" y="2286000"/>
            <a:ext cx="768096" cy="768096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27" name="Text 25"/>
          <p:cNvSpPr/>
          <p:nvPr/>
        </p:nvSpPr>
        <p:spPr>
          <a:xfrm>
            <a:off x="6181344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69864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Accepts &amp; Assigns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69864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booking, assigns vehicle + driver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61304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31" name="Text 29"/>
          <p:cNvSpPr/>
          <p:nvPr/>
        </p:nvSpPr>
        <p:spPr>
          <a:xfrm>
            <a:off x="5861304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796528" y="2670048"/>
            <a:ext cx="1078992" cy="0"/>
          </a:xfrm>
          <a:prstGeom prst="line">
            <a:avLst/>
          </a:prstGeom>
          <a:noFill/>
          <a:ln w="25400">
            <a:solidFill>
              <a:srgbClr val="E2E5E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028432" y="2286000"/>
            <a:ext cx="768096" cy="768096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34" name="Text 32"/>
          <p:cNvSpPr/>
          <p:nvPr/>
        </p:nvSpPr>
        <p:spPr>
          <a:xfrm>
            <a:off x="8028432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16952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Runs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616952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OTP, live location, start/end KM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08392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38" name="Text 36"/>
          <p:cNvSpPr/>
          <p:nvPr/>
        </p:nvSpPr>
        <p:spPr>
          <a:xfrm>
            <a:off x="7708392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875520" y="2286000"/>
            <a:ext cx="768096" cy="768096"/>
          </a:xfrm>
          <a:prstGeom prst="ellipse">
            <a:avLst/>
          </a:prstGeom>
          <a:solidFill>
            <a:srgbClr val="173B5C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464040" y="3218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&amp; Feedback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464040" y="383133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settled, feedback captured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555480" y="468172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44" name="Text 42"/>
          <p:cNvSpPr/>
          <p:nvPr/>
        </p:nvSpPr>
        <p:spPr>
          <a:xfrm>
            <a:off x="9555480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EF2F6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&amp; Lead stages (before Quotation) happen entirely in the UC Admin Portal — outside this app's flow.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RESPONSIBILITIES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role does, and what they see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5" name="Image 0" descr="/home/claude/pinaak-deck/us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276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276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· Corporate · Event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&amp; confirm quotation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booking before vehicle is revealed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passenger list &amp; pickup address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over OTP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— capped at balance due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feedback &amp; Review</a:t>
            </a:r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cs typeface="Arial" pitchFamily="34" charset="-120"/>
              </a:rPr>
              <a:t>Request as a new Trip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EEF2F6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0" name="Image 1" descr="/home/claude/pinaak-deck/tru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16276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6276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(BA)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16636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· Booking · Ops · A/C Manager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0" y="242316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or reject booking assignment .</a:t>
            </a:r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cs typeface="Arial" pitchFamily="34" charset="-120"/>
              </a:rPr>
              <a:t>According to raise custom amount(</a:t>
            </a:r>
            <a:r>
              <a:rPr lang="en-US" sz="1150" dirty="0" err="1">
                <a:solidFill>
                  <a:srgbClr val="14181F"/>
                </a:solidFill>
                <a:latin typeface="Arial" pitchFamily="34" charset="0"/>
                <a:cs typeface="Arial" pitchFamily="34" charset="-120"/>
              </a:rPr>
              <a:t>refrerence</a:t>
            </a:r>
            <a:r>
              <a:rPr lang="en-US" sz="1150" dirty="0">
                <a:solidFill>
                  <a:srgbClr val="14181F"/>
                </a:solidFill>
                <a:latin typeface="Arial" pitchFamily="34" charset="0"/>
                <a:cs typeface="Arial" pitchFamily="34" charset="-120"/>
              </a:rPr>
              <a:t>).</a:t>
            </a:r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cs typeface="Arial" pitchFamily="34" charset="-120"/>
              </a:rPr>
              <a:t>Add vehicles list &amp; vehicles master(vehicles history) &amp; Add own driver list(information).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vehicle &amp; driver from own fleet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to vehicle broadcasts with rate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pre-dispatch checklist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advance payment received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GST bill after trip.</a:t>
            </a:r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pic>
        <p:nvPicPr>
          <p:cNvPr id="15" name="Image 2" descr="/home/claude/pinaak-deck/navigatio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62763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15400" y="16276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91540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Attached per-trip to a vehicle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321040" y="242316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assigned trips &amp; duty slip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 unlocks near pickup time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OTP given by customer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start/end KM with photo</a:t>
            </a:r>
            <a:endParaRPr lang="en-US" sz="1150" dirty="0"/>
          </a:p>
          <a:p>
            <a:pPr marL="152400" indent="-1524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safety briefing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APP, SCREEN BY SCREEN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app, different navigation per role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login, the app loads the screen set for that person's role — nothing more.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173B5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21992"/>
            <a:ext cx="3520440" cy="246888"/>
          </a:xfrm>
          <a:prstGeom prst="rect">
            <a:avLst/>
          </a:prstGeom>
          <a:solidFill>
            <a:srgbClr val="173B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00" dirty="0"/>
          </a:p>
        </p:txBody>
      </p:sp>
      <p:pic>
        <p:nvPicPr>
          <p:cNvPr id="9" name="Image 0" descr="/home/claude/pinaak-deck/hom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609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468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" y="320040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12" name="Image 1" descr="/home/claude/pinaak-deck/calenda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924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393192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15" name="Image 2" descr="/home/claude/pinaak-deck/navigatio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2394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931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31520" y="466344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18" name="Image 3" descr="/home/claude/pinaak-deck/walle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85546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663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31520" y="539496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21" name="Image 4" descr="/home/claude/pinaak-deck/user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58698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394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297680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297680" y="196596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173B5C"/>
          </a:solidFill>
          <a:ln/>
        </p:spPr>
      </p:sp>
      <p:sp>
        <p:nvSpPr>
          <p:cNvPr id="25" name="Shape 18"/>
          <p:cNvSpPr/>
          <p:nvPr/>
        </p:nvSpPr>
        <p:spPr>
          <a:xfrm>
            <a:off x="4297680" y="2221992"/>
            <a:ext cx="3520440" cy="246888"/>
          </a:xfrm>
          <a:prstGeom prst="rect">
            <a:avLst/>
          </a:prstGeom>
          <a:solidFill>
            <a:srgbClr val="173B5C"/>
          </a:solidFill>
          <a:ln/>
        </p:spPr>
      </p:sp>
      <p:sp>
        <p:nvSpPr>
          <p:cNvPr id="26" name="Text 19"/>
          <p:cNvSpPr/>
          <p:nvPr/>
        </p:nvSpPr>
        <p:spPr>
          <a:xfrm>
            <a:off x="4480560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(BA)</a:t>
            </a:r>
            <a:endParaRPr lang="en-US" sz="1300" dirty="0"/>
          </a:p>
        </p:txBody>
      </p:sp>
      <p:pic>
        <p:nvPicPr>
          <p:cNvPr id="27" name="Image 5" descr="/home/claude/pinaak-deck/hom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60904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74920" y="2468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4480560" y="320040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30" name="Image 6" descr="/home/claude/pinaak-deck/clipboard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392424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07492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4480560" y="393192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33" name="Image 7" descr="/home/claude/pinaak-deck/truck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123944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74920" y="3931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4480560" y="466344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36" name="Image 8" descr="/home/claude/pinaak-deck/walle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855464"/>
            <a:ext cx="347472" cy="34747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074920" y="4663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4480560" y="539496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39" name="Image 9" descr="/home/claude/pinaak-deck/user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5586984"/>
            <a:ext cx="347472" cy="34747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074920" y="5394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50" dirty="0"/>
          </a:p>
        </p:txBody>
      </p:sp>
      <p:sp>
        <p:nvSpPr>
          <p:cNvPr id="41" name="Shape 29"/>
          <p:cNvSpPr/>
          <p:nvPr/>
        </p:nvSpPr>
        <p:spPr>
          <a:xfrm>
            <a:off x="8046720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8046720" y="196596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173B5C"/>
          </a:solidFill>
          <a:ln/>
        </p:spPr>
      </p:sp>
      <p:sp>
        <p:nvSpPr>
          <p:cNvPr id="43" name="Shape 31"/>
          <p:cNvSpPr/>
          <p:nvPr/>
        </p:nvSpPr>
        <p:spPr>
          <a:xfrm>
            <a:off x="8046720" y="2221992"/>
            <a:ext cx="3520440" cy="246888"/>
          </a:xfrm>
          <a:prstGeom prst="rect">
            <a:avLst/>
          </a:prstGeom>
          <a:solidFill>
            <a:srgbClr val="173B5C"/>
          </a:solidFill>
          <a:ln/>
        </p:spPr>
      </p:sp>
      <p:sp>
        <p:nvSpPr>
          <p:cNvPr id="44" name="Text 32"/>
          <p:cNvSpPr/>
          <p:nvPr/>
        </p:nvSpPr>
        <p:spPr>
          <a:xfrm>
            <a:off x="8229600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300" dirty="0"/>
          </a:p>
        </p:txBody>
      </p:sp>
      <p:pic>
        <p:nvPicPr>
          <p:cNvPr id="45" name="Image 10" descr="/home/claude/pinaak-deck/calenda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660904"/>
            <a:ext cx="347472" cy="34747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823960" y="2468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</a:t>
            </a:r>
            <a:endParaRPr lang="en-US" sz="1250" dirty="0"/>
          </a:p>
        </p:txBody>
      </p:sp>
      <p:sp>
        <p:nvSpPr>
          <p:cNvPr id="47" name="Shape 34"/>
          <p:cNvSpPr/>
          <p:nvPr/>
        </p:nvSpPr>
        <p:spPr>
          <a:xfrm>
            <a:off x="8229600" y="320040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48" name="Image 11" descr="/home/claude/pinaak-deck/clipboard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3392424"/>
            <a:ext cx="347472" cy="34747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8823960" y="3200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Slip</a:t>
            </a:r>
            <a:endParaRPr lang="en-US" sz="1250" dirty="0"/>
          </a:p>
        </p:txBody>
      </p:sp>
      <p:sp>
        <p:nvSpPr>
          <p:cNvPr id="50" name="Shape 36"/>
          <p:cNvSpPr/>
          <p:nvPr/>
        </p:nvSpPr>
        <p:spPr>
          <a:xfrm>
            <a:off x="8229600" y="3931920"/>
            <a:ext cx="315468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pic>
        <p:nvPicPr>
          <p:cNvPr id="51" name="Image 12" descr="/home/claude/pinaak-deck/user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123944"/>
            <a:ext cx="347472" cy="347472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8823960" y="3931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50" dirty="0"/>
          </a:p>
        </p:txBody>
      </p:sp>
      <p:sp>
        <p:nvSpPr>
          <p:cNvPr id="53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54" name="Text 3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scope and what happens next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EF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 now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Customer, Vendor, and Driver roles only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starts at Quotation — Enquiry/Lead stay in the Admin Portal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React Native app, role-based login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reads Quotation from the shared database, owns Booking onward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875">
            <a:solidFill>
              <a:srgbClr val="173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confirmation from management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customers: is app access mandatory, or is an offline/manual fallback needed at launch?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driver ever collect cash directly, or is all payment routed through UC/Vendor?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Confirm: PINAAK backend should only ever read the Quotation tables, never write to them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PINAAK — Mobile App Working Note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FF7C52-83B7-536F-68B0-BD521F01A35E}"/>
              </a:ext>
            </a:extLst>
          </p:cNvPr>
          <p:cNvSpPr txBox="1"/>
          <p:nvPr/>
        </p:nvSpPr>
        <p:spPr>
          <a:xfrm>
            <a:off x="3048755" y="1584604"/>
            <a:ext cx="60975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State Flow</a:t>
            </a:r>
          </a:p>
          <a:p>
            <a:pPr>
              <a:buNone/>
            </a:pPr>
            <a:r>
              <a:rPr lang="en-US" dirty="0"/>
              <a:t>A practical state model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Enquiry.( not done by app)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Quotation Sent.(not done by app)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Booking Created.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Payment Confirmed.(25%)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Vehicle Assigned.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Acknowledged.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Trip Scheduled.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Progress.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Payment Remaining Amount.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Feedback &amp; Review Submitted.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Closed.</a:t>
            </a:r>
          </a:p>
        </p:txBody>
      </p:sp>
    </p:spTree>
    <p:extLst>
      <p:ext uri="{BB962C8B-B14F-4D97-AF65-F5344CB8AC3E}">
        <p14:creationId xmlns:p14="http://schemas.microsoft.com/office/powerpoint/2010/main" val="4230356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B073D6-4B38-A458-95C1-C59F8976B5A1}"/>
              </a:ext>
            </a:extLst>
          </p:cNvPr>
          <p:cNvSpPr txBox="1"/>
          <p:nvPr/>
        </p:nvSpPr>
        <p:spPr>
          <a:xfrm>
            <a:off x="3144005" y="887999"/>
            <a:ext cx="60975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Production-grade Recommendation</a:t>
            </a:r>
          </a:p>
          <a:p>
            <a:pPr>
              <a:buNone/>
            </a:pPr>
            <a:r>
              <a:rPr lang="en-US" dirty="0"/>
              <a:t>For production, use a modular architecture with separate services or modules for leads, quotes, bookings, inventory, dispatch, trips, payments, notifications, and reports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Research &amp; Analytics Module</a:t>
            </a:r>
          </a:p>
          <a:p>
            <a:pPr>
              <a:buNone/>
            </a:pPr>
            <a:r>
              <a:rPr lang="en-US" dirty="0"/>
              <a:t>Notification &amp; Alert System module(push , mail etc. notifications)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Latest UI/UX </a:t>
            </a:r>
          </a:p>
          <a:p>
            <a:pPr>
              <a:buNone/>
            </a:pPr>
            <a:r>
              <a:rPr lang="en-US" dirty="0"/>
              <a:t>Animation</a:t>
            </a:r>
          </a:p>
          <a:p>
            <a:pPr>
              <a:buNone/>
            </a:pPr>
            <a:r>
              <a:rPr lang="en-US" dirty="0"/>
              <a:t>Loader</a:t>
            </a:r>
          </a:p>
          <a:p>
            <a:pPr>
              <a:buNone/>
            </a:pPr>
            <a:r>
              <a:rPr lang="en-US" dirty="0"/>
              <a:t>Pop alert</a:t>
            </a:r>
          </a:p>
          <a:p>
            <a:pPr>
              <a:buNone/>
            </a:pPr>
            <a:r>
              <a:rPr lang="en-US" dirty="0"/>
              <a:t>Modal</a:t>
            </a:r>
          </a:p>
          <a:p>
            <a:pPr>
              <a:buNone/>
            </a:pPr>
            <a:r>
              <a:rPr lang="en-US" dirty="0"/>
              <a:t>Success/failure/retry </a:t>
            </a:r>
            <a:r>
              <a:rPr lang="en-US" dirty="0" err="1"/>
              <a:t>etc</a:t>
            </a:r>
            <a:r>
              <a:rPr lang="en-US" dirty="0"/>
              <a:t> message pop up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91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F5E63D-2077-867B-D236-24EC0247E980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Core modules to include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Quotation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Booking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Vehicle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Vendor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Driver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Trip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Payment and settlement.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Feedback and alerts.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Reports and exception queues.</a:t>
            </a:r>
          </a:p>
        </p:txBody>
      </p:sp>
    </p:spTree>
    <p:extLst>
      <p:ext uri="{BB962C8B-B14F-4D97-AF65-F5344CB8AC3E}">
        <p14:creationId xmlns:p14="http://schemas.microsoft.com/office/powerpoint/2010/main" val="77444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794</Words>
  <Application>Microsoft Office PowerPoint</Application>
  <PresentationFormat>Widescreen</PresentationFormat>
  <Paragraphs>160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Urban Cruise</cp:lastModifiedBy>
  <cp:revision>3</cp:revision>
  <dcterms:created xsi:type="dcterms:W3CDTF">2026-07-23T08:10:54Z</dcterms:created>
  <dcterms:modified xsi:type="dcterms:W3CDTF">2026-07-24T14:35:57Z</dcterms:modified>
</cp:coreProperties>
</file>