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1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4.png"/><Relationship Id="rId10" Type="http://schemas.openxmlformats.org/officeDocument/2006/relationships/image" Target="../media/image-5-5.png"/><Relationship Id="rId11" Type="http://schemas.openxmlformats.org/officeDocument/2006/relationships/image" Target="../media/image-5-2.png"/><Relationship Id="rId12" Type="http://schemas.openxmlformats.org/officeDocument/2006/relationships/image" Target="../media/image-5-7.png"/><Relationship Id="rId13" Type="http://schemas.openxmlformats.org/officeDocument/2006/relationships/image" Target="../media/image-5-5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EEF2F6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-822960"/>
            <a:ext cx="3657600" cy="3657600"/>
          </a:xfrm>
          <a:prstGeom prst="ellipse">
            <a:avLst/>
          </a:prstGeom>
          <a:solidFill>
            <a:srgbClr val="173B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NOTE FOR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Mobile App
</a:t>
            </a:r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7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actually works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moment a Quotation is saved, through Booking, Vendor assignment, Trip and Payment — one flow, three roles.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84632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8" name="Image 0" descr="/home/claude/pinaak-deck/us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496519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4846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971800" y="484632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11" name="Image 1" descr="/home/claude/pinaak-deck/tru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816" y="496519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4846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(BA)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303520" y="484632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14" name="Image 2" descr="/home/claude/pinaak-deck/navigatio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496519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06440" y="4846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Mobile App Working Note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BOUNDARY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systems, one shared database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 Admin Portal owns Enquiry → Lead → Quotation. PINAAK's mobile backend takes over from Quotation onward.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834640" cy="2651760"/>
          </a:xfrm>
          <a:prstGeom prst="roundRect">
            <a:avLst>
              <a:gd name="adj" fmla="val 4138"/>
            </a:avLst>
          </a:prstGeom>
          <a:solidFill>
            <a:srgbClr val="EEF2F6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6" name="Image 0" descr="/home/claude/pinaak-deck/build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23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 Admin Portal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319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system — not built by this project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Enquiry
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Lead
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Quotation (RQ)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20440" y="3364992"/>
            <a:ext cx="502920" cy="21945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1" name="Shape 8"/>
          <p:cNvSpPr/>
          <p:nvPr/>
        </p:nvSpPr>
        <p:spPr>
          <a:xfrm>
            <a:off x="4160520" y="2148840"/>
            <a:ext cx="2834640" cy="2651760"/>
          </a:xfrm>
          <a:prstGeom prst="roundRect">
            <a:avLst>
              <a:gd name="adj" fmla="val 4138"/>
            </a:avLst>
          </a:prstGeom>
          <a:solidFill>
            <a:srgbClr val="173B5C"/>
          </a:solidFill>
          <a:ln/>
        </p:spPr>
      </p:sp>
      <p:pic>
        <p:nvPicPr>
          <p:cNvPr id="12" name="Image 1" descr="/home/claude/pinaak-deck/database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4231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8912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MySQL Database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389120" y="3474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systems read/write directly — no webhook layer between them.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89120" y="4233672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2740"/>
          </a:solidFill>
          <a:ln/>
        </p:spPr>
      </p:sp>
      <p:sp>
        <p:nvSpPr>
          <p:cNvPr id="16" name="Text 12"/>
          <p:cNvSpPr/>
          <p:nvPr/>
        </p:nvSpPr>
        <p:spPr>
          <a:xfrm>
            <a:off x="4480560" y="42336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A2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backend: read-only on Quotation tables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132320" y="3364992"/>
            <a:ext cx="502920" cy="21945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0" y="2148840"/>
            <a:ext cx="2834640" cy="2651760"/>
          </a:xfrm>
          <a:prstGeom prst="roundRect">
            <a:avLst>
              <a:gd name="adj" fmla="val 4138"/>
            </a:avLst>
          </a:prstGeom>
          <a:solidFill>
            <a:srgbClr val="EEF2F6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19" name="Image 2" descr="/home/claude/pinaak-deck/serve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42316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0100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Backend API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001000" y="3319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· owns Booking onward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001000" y="3794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Booking
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Trip &amp; Vehicle
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Payment · Feedback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86400" y="4873752"/>
            <a:ext cx="274320" cy="365760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24" name="Shape 19"/>
          <p:cNvSpPr/>
          <p:nvPr/>
        </p:nvSpPr>
        <p:spPr>
          <a:xfrm>
            <a:off x="3566160" y="5303520"/>
            <a:ext cx="502920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9050">
            <a:solidFill>
              <a:srgbClr val="173B5C"/>
            </a:solidFill>
            <a:prstDash val="solid"/>
          </a:ln>
        </p:spPr>
      </p:sp>
      <p:pic>
        <p:nvPicPr>
          <p:cNvPr id="25" name="Image 3" descr="/home/claude/pinaak-deck/smartphon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548640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434840" y="54132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React Native App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434840" y="57241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login — Customer · Vendor · Driver in a single build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Mobile App Working Note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happens, in order, once a Quotation exists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408176" y="2670048"/>
            <a:ext cx="1078992" cy="0"/>
          </a:xfrm>
          <a:prstGeom prst="line">
            <a:avLst/>
          </a:prstGeom>
          <a:noFill/>
          <a:ln w="25400">
            <a:solidFill>
              <a:srgbClr val="E2E5E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2286000"/>
            <a:ext cx="768096" cy="76809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32186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 Saved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8600" y="383133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in UC Admin Portal, lands in shared DB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468172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55264" y="2670048"/>
            <a:ext cx="1078992" cy="0"/>
          </a:xfrm>
          <a:prstGeom prst="line">
            <a:avLst/>
          </a:prstGeom>
          <a:noFill/>
          <a:ln w="25400">
            <a:solidFill>
              <a:srgbClr val="E2E5E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487168" y="2286000"/>
            <a:ext cx="768096" cy="768096"/>
          </a:xfrm>
          <a:prstGeom prst="ellipse">
            <a:avLst/>
          </a:prstGeom>
          <a:solidFill>
            <a:srgbClr val="173B5C"/>
          </a:solidFill>
          <a:ln/>
        </p:spPr>
      </p:sp>
      <p:sp>
        <p:nvSpPr>
          <p:cNvPr id="13" name="Text 11"/>
          <p:cNvSpPr/>
          <p:nvPr/>
        </p:nvSpPr>
        <p:spPr>
          <a:xfrm>
            <a:off x="2487168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75688" y="32186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Views &amp; Confirms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075688" y="383133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vehicle option, confirms, pays advance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67128" y="468172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17" name="Text 15"/>
          <p:cNvSpPr/>
          <p:nvPr/>
        </p:nvSpPr>
        <p:spPr>
          <a:xfrm>
            <a:off x="2167128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102352" y="2670048"/>
            <a:ext cx="1078992" cy="0"/>
          </a:xfrm>
          <a:prstGeom prst="line">
            <a:avLst/>
          </a:prstGeom>
          <a:noFill/>
          <a:ln w="25400">
            <a:solidFill>
              <a:srgbClr val="E2E5E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334256" y="2286000"/>
            <a:ext cx="768096" cy="768096"/>
          </a:xfrm>
          <a:prstGeom prst="ellipse">
            <a:avLst/>
          </a:prstGeom>
          <a:solidFill>
            <a:srgbClr val="173B5C"/>
          </a:solidFill>
          <a:ln/>
        </p:spPr>
      </p:sp>
      <p:sp>
        <p:nvSpPr>
          <p:cNvPr id="20" name="Text 18"/>
          <p:cNvSpPr/>
          <p:nvPr/>
        </p:nvSpPr>
        <p:spPr>
          <a:xfrm>
            <a:off x="4334256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22776" y="32186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Created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922776" y="383133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ID generated (= Quotation/Enquiry ID)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14216" y="468172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014216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49440" y="2670048"/>
            <a:ext cx="1078992" cy="0"/>
          </a:xfrm>
          <a:prstGeom prst="line">
            <a:avLst/>
          </a:prstGeom>
          <a:noFill/>
          <a:ln w="25400">
            <a:solidFill>
              <a:srgbClr val="E2E5E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181344" y="2286000"/>
            <a:ext cx="768096" cy="768096"/>
          </a:xfrm>
          <a:prstGeom prst="ellipse">
            <a:avLst/>
          </a:prstGeom>
          <a:solidFill>
            <a:srgbClr val="173B5C"/>
          </a:solidFill>
          <a:ln/>
        </p:spPr>
      </p:sp>
      <p:sp>
        <p:nvSpPr>
          <p:cNvPr id="27" name="Text 25"/>
          <p:cNvSpPr/>
          <p:nvPr/>
        </p:nvSpPr>
        <p:spPr>
          <a:xfrm>
            <a:off x="6181344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69864" y="32186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Accepts &amp; Assigns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769864" y="383133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 booking, assigns vehicle + driver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61304" y="468172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31" name="Text 29"/>
          <p:cNvSpPr/>
          <p:nvPr/>
        </p:nvSpPr>
        <p:spPr>
          <a:xfrm>
            <a:off x="5861304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796528" y="2670048"/>
            <a:ext cx="1078992" cy="0"/>
          </a:xfrm>
          <a:prstGeom prst="line">
            <a:avLst/>
          </a:prstGeom>
          <a:noFill/>
          <a:ln w="25400">
            <a:solidFill>
              <a:srgbClr val="E2E5EA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8028432" y="2286000"/>
            <a:ext cx="768096" cy="768096"/>
          </a:xfrm>
          <a:prstGeom prst="ellipse">
            <a:avLst/>
          </a:prstGeom>
          <a:solidFill>
            <a:srgbClr val="173B5C"/>
          </a:solidFill>
          <a:ln/>
        </p:spPr>
      </p:sp>
      <p:sp>
        <p:nvSpPr>
          <p:cNvPr id="34" name="Text 32"/>
          <p:cNvSpPr/>
          <p:nvPr/>
        </p:nvSpPr>
        <p:spPr>
          <a:xfrm>
            <a:off x="8028432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16952" y="32186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Runs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616952" y="383133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OTP, live location, start/end KM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708392" y="468172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38" name="Text 36"/>
          <p:cNvSpPr/>
          <p:nvPr/>
        </p:nvSpPr>
        <p:spPr>
          <a:xfrm>
            <a:off x="7708392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875520" y="2286000"/>
            <a:ext cx="768096" cy="768096"/>
          </a:xfrm>
          <a:prstGeom prst="ellipse">
            <a:avLst/>
          </a:prstGeom>
          <a:solidFill>
            <a:srgbClr val="173B5C"/>
          </a:solidFill>
          <a:ln/>
        </p:spPr>
      </p:sp>
      <p:sp>
        <p:nvSpPr>
          <p:cNvPr id="40" name="Text 38"/>
          <p:cNvSpPr/>
          <p:nvPr/>
        </p:nvSpPr>
        <p:spPr>
          <a:xfrm>
            <a:off x="9875520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464040" y="32186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&amp; Feedback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464040" y="383133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settled, feedback captured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555480" y="468172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44" name="Text 42"/>
          <p:cNvSpPr/>
          <p:nvPr/>
        </p:nvSpPr>
        <p:spPr>
          <a:xfrm>
            <a:off x="9555480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48640" y="59893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EEF2F6"/>
          </a:solidFill>
          <a:ln/>
        </p:spPr>
      </p:sp>
      <p:sp>
        <p:nvSpPr>
          <p:cNvPr id="46" name="Text 44"/>
          <p:cNvSpPr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Enquiry &amp; Lead stages (before Quotation) happen entirely in the UC Admin Portal — outside this app's flow.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Mobile App Working Note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RESPONSIBILITIES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role does, and what they see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48006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5" name="Image 0" descr="/home/claude/pinaak-deck/us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276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276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· Corporate · Event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&amp; confirm quotation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 booking before driver/vehicle is revealed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passenger list &amp; pickup address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trip live, hand over OTP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— capped at balance due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feedback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371600"/>
            <a:ext cx="3520440" cy="4800600"/>
          </a:xfrm>
          <a:prstGeom prst="roundRect">
            <a:avLst>
              <a:gd name="adj" fmla="val 3117"/>
            </a:avLst>
          </a:prstGeom>
          <a:solidFill>
            <a:srgbClr val="EEF2F6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10" name="Image 1" descr="/home/claude/pinaak-deck/tru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62763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16276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(BA)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166360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· Booking · Ops · A/C Manager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572000" y="242316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or reject booking assignment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vehicle &amp; driver from own fleet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 to vehicle broadcasts with rate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pre-dispatch checklist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advance payment received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GST bill after trip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371600"/>
            <a:ext cx="3520440" cy="48006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15" name="Image 2" descr="/home/claude/pinaak-deck/navigatio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162763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15400" y="16276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915400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Attached per-trip to a vehicle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8321040" y="242316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assigned trips &amp; duty slip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contact unlocks near pickup time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OTP given by customer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start/end KM with photo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 safety briefing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Mobile App Working Note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APP, SCREEN BY SCREEN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app, different navigation per role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login, the app loads the screen set for that person's role — nothing more.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3520440" cy="502920"/>
          </a:xfrm>
          <a:prstGeom prst="roundRect">
            <a:avLst>
              <a:gd name="adj" fmla="val 21818"/>
            </a:avLst>
          </a:prstGeom>
          <a:solidFill>
            <a:srgbClr val="173B5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21992"/>
            <a:ext cx="3520440" cy="246888"/>
          </a:xfrm>
          <a:prstGeom prst="rect">
            <a:avLst/>
          </a:prstGeom>
          <a:solidFill>
            <a:srgbClr val="173B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300" dirty="0"/>
          </a:p>
        </p:txBody>
      </p:sp>
      <p:pic>
        <p:nvPicPr>
          <p:cNvPr id="9" name="Image 0" descr="/home/claude/pinaak-deck/hom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6090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4688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31520" y="3200400"/>
            <a:ext cx="315468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pic>
        <p:nvPicPr>
          <p:cNvPr id="12" name="Image 1" descr="/home/claude/pinaak-deck/calenda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9242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3200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31520" y="3931920"/>
            <a:ext cx="315468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pic>
        <p:nvPicPr>
          <p:cNvPr id="15" name="Image 2" descr="/home/claude/pinaak-deck/navigatio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2394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9319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31520" y="4663440"/>
            <a:ext cx="315468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pic>
        <p:nvPicPr>
          <p:cNvPr id="18" name="Image 3" descr="/home/claude/pinaak-deck/walle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85546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6634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31520" y="5394960"/>
            <a:ext cx="315468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pic>
        <p:nvPicPr>
          <p:cNvPr id="21" name="Image 4" descr="/home/claude/pinaak-deck/user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586984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53949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297680" y="196596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297680" y="1965960"/>
            <a:ext cx="3520440" cy="502920"/>
          </a:xfrm>
          <a:prstGeom prst="roundRect">
            <a:avLst>
              <a:gd name="adj" fmla="val 21818"/>
            </a:avLst>
          </a:prstGeom>
          <a:solidFill>
            <a:srgbClr val="173B5C"/>
          </a:solidFill>
          <a:ln/>
        </p:spPr>
      </p:sp>
      <p:sp>
        <p:nvSpPr>
          <p:cNvPr id="25" name="Shape 18"/>
          <p:cNvSpPr/>
          <p:nvPr/>
        </p:nvSpPr>
        <p:spPr>
          <a:xfrm>
            <a:off x="4297680" y="2221992"/>
            <a:ext cx="3520440" cy="246888"/>
          </a:xfrm>
          <a:prstGeom prst="rect">
            <a:avLst/>
          </a:prstGeom>
          <a:solidFill>
            <a:srgbClr val="173B5C"/>
          </a:solidFill>
          <a:ln/>
        </p:spPr>
      </p:sp>
      <p:sp>
        <p:nvSpPr>
          <p:cNvPr id="26" name="Text 19"/>
          <p:cNvSpPr/>
          <p:nvPr/>
        </p:nvSpPr>
        <p:spPr>
          <a:xfrm>
            <a:off x="4480560" y="1965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(BA)</a:t>
            </a:r>
            <a:endParaRPr lang="en-US" sz="1300" dirty="0"/>
          </a:p>
        </p:txBody>
      </p:sp>
      <p:pic>
        <p:nvPicPr>
          <p:cNvPr id="27" name="Image 5" descr="/home/claude/pinaak-deck/hom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660904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074920" y="24688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4480560" y="3200400"/>
            <a:ext cx="315468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pic>
        <p:nvPicPr>
          <p:cNvPr id="30" name="Image 6" descr="/home/claude/pinaak-deck/clipboard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392424"/>
            <a:ext cx="347472" cy="34747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074920" y="3200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4480560" y="3931920"/>
            <a:ext cx="315468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pic>
        <p:nvPicPr>
          <p:cNvPr id="33" name="Image 7" descr="/home/claude/pinaak-deck/truck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4123944"/>
            <a:ext cx="347472" cy="34747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074920" y="39319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4480560" y="4663440"/>
            <a:ext cx="315468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pic>
        <p:nvPicPr>
          <p:cNvPr id="36" name="Image 8" descr="/home/claude/pinaak-deck/wallet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4855464"/>
            <a:ext cx="347472" cy="34747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074920" y="46634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250" dirty="0"/>
          </a:p>
        </p:txBody>
      </p:sp>
      <p:sp>
        <p:nvSpPr>
          <p:cNvPr id="38" name="Shape 27"/>
          <p:cNvSpPr/>
          <p:nvPr/>
        </p:nvSpPr>
        <p:spPr>
          <a:xfrm>
            <a:off x="4480560" y="5394960"/>
            <a:ext cx="315468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pic>
        <p:nvPicPr>
          <p:cNvPr id="39" name="Image 9" descr="/home/claude/pinaak-deck/user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5586984"/>
            <a:ext cx="347472" cy="347472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074920" y="53949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250" dirty="0"/>
          </a:p>
        </p:txBody>
      </p:sp>
      <p:sp>
        <p:nvSpPr>
          <p:cNvPr id="41" name="Shape 29"/>
          <p:cNvSpPr/>
          <p:nvPr/>
        </p:nvSpPr>
        <p:spPr>
          <a:xfrm>
            <a:off x="8046720" y="196596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42" name="Shape 30"/>
          <p:cNvSpPr/>
          <p:nvPr/>
        </p:nvSpPr>
        <p:spPr>
          <a:xfrm>
            <a:off x="8046720" y="1965960"/>
            <a:ext cx="3520440" cy="502920"/>
          </a:xfrm>
          <a:prstGeom prst="roundRect">
            <a:avLst>
              <a:gd name="adj" fmla="val 21818"/>
            </a:avLst>
          </a:prstGeom>
          <a:solidFill>
            <a:srgbClr val="173B5C"/>
          </a:solidFill>
          <a:ln/>
        </p:spPr>
      </p:sp>
      <p:sp>
        <p:nvSpPr>
          <p:cNvPr id="43" name="Shape 31"/>
          <p:cNvSpPr/>
          <p:nvPr/>
        </p:nvSpPr>
        <p:spPr>
          <a:xfrm>
            <a:off x="8046720" y="2221992"/>
            <a:ext cx="3520440" cy="246888"/>
          </a:xfrm>
          <a:prstGeom prst="rect">
            <a:avLst/>
          </a:prstGeom>
          <a:solidFill>
            <a:srgbClr val="173B5C"/>
          </a:solidFill>
          <a:ln/>
        </p:spPr>
      </p:sp>
      <p:sp>
        <p:nvSpPr>
          <p:cNvPr id="44" name="Text 32"/>
          <p:cNvSpPr/>
          <p:nvPr/>
        </p:nvSpPr>
        <p:spPr>
          <a:xfrm>
            <a:off x="8229600" y="1965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1300" dirty="0"/>
          </a:p>
        </p:txBody>
      </p:sp>
      <p:pic>
        <p:nvPicPr>
          <p:cNvPr id="45" name="Image 10" descr="/home/claude/pinaak-deck/calendar_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1040" y="2660904"/>
            <a:ext cx="347472" cy="347472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8823960" y="24688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Trips</a:t>
            </a:r>
            <a:endParaRPr lang="en-US" sz="1250" dirty="0"/>
          </a:p>
        </p:txBody>
      </p:sp>
      <p:sp>
        <p:nvSpPr>
          <p:cNvPr id="47" name="Shape 34"/>
          <p:cNvSpPr/>
          <p:nvPr/>
        </p:nvSpPr>
        <p:spPr>
          <a:xfrm>
            <a:off x="8229600" y="3200400"/>
            <a:ext cx="315468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pic>
        <p:nvPicPr>
          <p:cNvPr id="48" name="Image 11" descr="/home/claude/pinaak-deck/clipboard_nav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1040" y="3392424"/>
            <a:ext cx="347472" cy="347472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8823960" y="3200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Slip</a:t>
            </a:r>
            <a:endParaRPr lang="en-US" sz="1250" dirty="0"/>
          </a:p>
        </p:txBody>
      </p:sp>
      <p:sp>
        <p:nvSpPr>
          <p:cNvPr id="50" name="Shape 36"/>
          <p:cNvSpPr/>
          <p:nvPr/>
        </p:nvSpPr>
        <p:spPr>
          <a:xfrm>
            <a:off x="8229600" y="3931920"/>
            <a:ext cx="315468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pic>
        <p:nvPicPr>
          <p:cNvPr id="51" name="Image 12" descr="/home/claude/pinaak-deck/user_nav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1040" y="4123944"/>
            <a:ext cx="347472" cy="347472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8823960" y="39319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250" dirty="0"/>
          </a:p>
        </p:txBody>
      </p:sp>
      <p:sp>
        <p:nvSpPr>
          <p:cNvPr id="53" name="Text 3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Mobile App Working Note</a:t>
            </a:r>
            <a:endParaRPr lang="en-US" sz="900" dirty="0"/>
          </a:p>
        </p:txBody>
      </p:sp>
      <p:sp>
        <p:nvSpPr>
          <p:cNvPr id="54" name="Text 3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scope and what happens next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EF2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 now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Customer, Vendor, and Driver roles only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starts at Quotation — Enquiry/Lead stay in the Admin Portal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React Native app, role-based login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reads Quotation from the shared database, owns Booking onward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875">
            <a:solidFill>
              <a:srgbClr val="173B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confirmation from management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customers: is app access mandatory, or is an offline/manual fallback needed at launch?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driver ever collect cash directly, or is all payment routed through UC/Vendor?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Confirm: PINAAK backend should only ever read the Quotation tables, never write to them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Mobile App Working Note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2026-07-23T08:10:54Z</dcterms:created>
  <dcterms:modified xsi:type="dcterms:W3CDTF">2026-07-23T08:10:54Z</dcterms:modified>
</cp:coreProperties>
</file>